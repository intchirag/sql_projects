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7B46FB-E609-4C12-8C0E-FEAD5B5473D5}" v="15" dt="2026-03-18T14:31:41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cheria, Chirag" userId="3a86c768-f984-433c-88b1-d8691fafd6d4" providerId="ADAL" clId="{D6E79EC7-75A6-4EDF-BCFD-06C21EA3524E}"/>
    <pc:docChg chg="undo custSel mod modSld">
      <pc:chgData name="Pacheria, Chirag" userId="3a86c768-f984-433c-88b1-d8691fafd6d4" providerId="ADAL" clId="{D6E79EC7-75A6-4EDF-BCFD-06C21EA3524E}" dt="2026-03-18T15:01:33.728" v="365" actId="20577"/>
      <pc:docMkLst>
        <pc:docMk/>
      </pc:docMkLst>
      <pc:sldChg chg="modSp mod">
        <pc:chgData name="Pacheria, Chirag" userId="3a86c768-f984-433c-88b1-d8691fafd6d4" providerId="ADAL" clId="{D6E79EC7-75A6-4EDF-BCFD-06C21EA3524E}" dt="2026-03-18T14:29:17.956" v="189" actId="20577"/>
        <pc:sldMkLst>
          <pc:docMk/>
          <pc:sldMk cId="0" sldId="256"/>
        </pc:sldMkLst>
        <pc:spChg chg="mod">
          <ac:chgData name="Pacheria, Chirag" userId="3a86c768-f984-433c-88b1-d8691fafd6d4" providerId="ADAL" clId="{D6E79EC7-75A6-4EDF-BCFD-06C21EA3524E}" dt="2026-03-18T14:29:17.956" v="189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29:43.079" v="219" actId="20577"/>
        <pc:sldMkLst>
          <pc:docMk/>
          <pc:sldMk cId="0" sldId="257"/>
        </pc:sldMkLst>
        <pc:spChg chg="mod">
          <ac:chgData name="Pacheria, Chirag" userId="3a86c768-f984-433c-88b1-d8691fafd6d4" providerId="ADAL" clId="{D6E79EC7-75A6-4EDF-BCFD-06C21EA3524E}" dt="2026-03-18T14:29:43.079" v="219" actId="20577"/>
          <ac:spMkLst>
            <pc:docMk/>
            <pc:sldMk cId="0" sldId="257"/>
            <ac:spMk id="40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29:55.763" v="220"/>
        <pc:sldMkLst>
          <pc:docMk/>
          <pc:sldMk cId="0" sldId="258"/>
        </pc:sldMkLst>
        <pc:spChg chg="mod">
          <ac:chgData name="Pacheria, Chirag" userId="3a86c768-f984-433c-88b1-d8691fafd6d4" providerId="ADAL" clId="{D6E79EC7-75A6-4EDF-BCFD-06C21EA3524E}" dt="2026-03-18T14:17:59.686" v="34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9:55.763" v="220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18:22.711" v="36" actId="20577"/>
        <pc:sldMkLst>
          <pc:docMk/>
          <pc:sldMk cId="0" sldId="259"/>
        </pc:sldMkLst>
        <pc:spChg chg="mod">
          <ac:chgData name="Pacheria, Chirag" userId="3a86c768-f984-433c-88b1-d8691fafd6d4" providerId="ADAL" clId="{D6E79EC7-75A6-4EDF-BCFD-06C21EA3524E}" dt="2026-03-18T14:18:22.711" v="36" actId="20577"/>
          <ac:spMkLst>
            <pc:docMk/>
            <pc:sldMk cId="0" sldId="259"/>
            <ac:spMk id="34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0:18.241" v="233"/>
        <pc:sldMkLst>
          <pc:docMk/>
          <pc:sldMk cId="0" sldId="261"/>
        </pc:sldMkLst>
        <pc:spChg chg="mod">
          <ac:chgData name="Pacheria, Chirag" userId="3a86c768-f984-433c-88b1-d8691fafd6d4" providerId="ADAL" clId="{D6E79EC7-75A6-4EDF-BCFD-06C21EA3524E}" dt="2026-03-18T14:19:01.886" v="37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19:10.103" v="38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30:18.241" v="233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0:26.210" v="246"/>
        <pc:sldMkLst>
          <pc:docMk/>
          <pc:sldMk cId="0" sldId="262"/>
        </pc:sldMkLst>
        <pc:spChg chg="mod">
          <ac:chgData name="Pacheria, Chirag" userId="3a86c768-f984-433c-88b1-d8691fafd6d4" providerId="ADAL" clId="{D6E79EC7-75A6-4EDF-BCFD-06C21EA3524E}" dt="2026-03-18T14:30:26.210" v="246"/>
          <ac:spMkLst>
            <pc:docMk/>
            <pc:sldMk cId="0" sldId="262"/>
            <ac:spMk id="33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0:34.259" v="259"/>
        <pc:sldMkLst>
          <pc:docMk/>
          <pc:sldMk cId="0" sldId="263"/>
        </pc:sldMkLst>
        <pc:spChg chg="mod">
          <ac:chgData name="Pacheria, Chirag" userId="3a86c768-f984-433c-88b1-d8691fafd6d4" providerId="ADAL" clId="{D6E79EC7-75A6-4EDF-BCFD-06C21EA3524E}" dt="2026-03-18T14:30:34.259" v="259"/>
          <ac:spMkLst>
            <pc:docMk/>
            <pc:sldMk cId="0" sldId="263"/>
            <ac:spMk id="27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0:45.566" v="272"/>
        <pc:sldMkLst>
          <pc:docMk/>
          <pc:sldMk cId="0" sldId="264"/>
        </pc:sldMkLst>
        <pc:spChg chg="mod">
          <ac:chgData name="Pacheria, Chirag" userId="3a86c768-f984-433c-88b1-d8691fafd6d4" providerId="ADAL" clId="{D6E79EC7-75A6-4EDF-BCFD-06C21EA3524E}" dt="2026-03-18T14:30:45.566" v="272"/>
          <ac:spMkLst>
            <pc:docMk/>
            <pc:sldMk cId="0" sldId="264"/>
            <ac:spMk id="27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0:52.874" v="284"/>
        <pc:sldMkLst>
          <pc:docMk/>
          <pc:sldMk cId="0" sldId="265"/>
        </pc:sldMkLst>
        <pc:spChg chg="mod">
          <ac:chgData name="Pacheria, Chirag" userId="3a86c768-f984-433c-88b1-d8691fafd6d4" providerId="ADAL" clId="{D6E79EC7-75A6-4EDF-BCFD-06C21EA3524E}" dt="2026-03-18T14:30:52.874" v="284"/>
          <ac:spMkLst>
            <pc:docMk/>
            <pc:sldMk cId="0" sldId="265"/>
            <ac:spMk id="34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1:01.979" v="297"/>
        <pc:sldMkLst>
          <pc:docMk/>
          <pc:sldMk cId="0" sldId="266"/>
        </pc:sldMkLst>
        <pc:spChg chg="mod">
          <ac:chgData name="Pacheria, Chirag" userId="3a86c768-f984-433c-88b1-d8691fafd6d4" providerId="ADAL" clId="{D6E79EC7-75A6-4EDF-BCFD-06C21EA3524E}" dt="2026-03-18T14:31:01.979" v="297"/>
          <ac:spMkLst>
            <pc:docMk/>
            <pc:sldMk cId="0" sldId="266"/>
            <ac:spMk id="27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1:11.115" v="310"/>
        <pc:sldMkLst>
          <pc:docMk/>
          <pc:sldMk cId="0" sldId="267"/>
        </pc:sldMkLst>
        <pc:spChg chg="mod">
          <ac:chgData name="Pacheria, Chirag" userId="3a86c768-f984-433c-88b1-d8691fafd6d4" providerId="ADAL" clId="{D6E79EC7-75A6-4EDF-BCFD-06C21EA3524E}" dt="2026-03-18T14:31:11.115" v="310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1:23.271" v="323"/>
        <pc:sldMkLst>
          <pc:docMk/>
          <pc:sldMk cId="0" sldId="268"/>
        </pc:sldMkLst>
        <pc:spChg chg="mod">
          <ac:chgData name="Pacheria, Chirag" userId="3a86c768-f984-433c-88b1-d8691fafd6d4" providerId="ADAL" clId="{D6E79EC7-75A6-4EDF-BCFD-06C21EA3524E}" dt="2026-03-18T14:21:52.656" v="45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2:29.226" v="51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2:09.202" v="47" actId="14100"/>
          <ac:spMkLst>
            <pc:docMk/>
            <pc:sldMk cId="0" sldId="268"/>
            <ac:spMk id="12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2:37.732" v="52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2:44.342" v="53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31:23.271" v="323"/>
          <ac:spMkLst>
            <pc:docMk/>
            <pc:sldMk cId="0" sldId="268"/>
            <ac:spMk id="17" creationId="{00000000-0000-0000-0000-000000000000}"/>
          </ac:spMkLst>
        </pc:spChg>
        <pc:picChg chg="mod">
          <ac:chgData name="Pacheria, Chirag" userId="3a86c768-f984-433c-88b1-d8691fafd6d4" providerId="ADAL" clId="{D6E79EC7-75A6-4EDF-BCFD-06C21EA3524E}" dt="2026-03-18T14:21:48.737" v="44" actId="14100"/>
          <ac:picMkLst>
            <pc:docMk/>
            <pc:sldMk cId="0" sldId="268"/>
            <ac:picMk id="10" creationId="{00000000-0000-0000-0000-000000000000}"/>
          </ac:picMkLst>
        </pc:picChg>
      </pc:sldChg>
      <pc:sldChg chg="modSp mod">
        <pc:chgData name="Pacheria, Chirag" userId="3a86c768-f984-433c-88b1-d8691fafd6d4" providerId="ADAL" clId="{D6E79EC7-75A6-4EDF-BCFD-06C21EA3524E}" dt="2026-03-18T14:31:34.367" v="336"/>
        <pc:sldMkLst>
          <pc:docMk/>
          <pc:sldMk cId="0" sldId="269"/>
        </pc:sldMkLst>
        <pc:spChg chg="mod">
          <ac:chgData name="Pacheria, Chirag" userId="3a86c768-f984-433c-88b1-d8691fafd6d4" providerId="ADAL" clId="{D6E79EC7-75A6-4EDF-BCFD-06C21EA3524E}" dt="2026-03-18T14:31:34.367" v="336"/>
          <ac:spMkLst>
            <pc:docMk/>
            <pc:sldMk cId="0" sldId="269"/>
            <ac:spMk id="36" creationId="{00000000-0000-0000-0000-000000000000}"/>
          </ac:spMkLst>
        </pc:spChg>
      </pc:sldChg>
      <pc:sldChg chg="modSp mod">
        <pc:chgData name="Pacheria, Chirag" userId="3a86c768-f984-433c-88b1-d8691fafd6d4" providerId="ADAL" clId="{D6E79EC7-75A6-4EDF-BCFD-06C21EA3524E}" dt="2026-03-18T14:31:41.877" v="349"/>
        <pc:sldMkLst>
          <pc:docMk/>
          <pc:sldMk cId="0" sldId="270"/>
        </pc:sldMkLst>
        <pc:spChg chg="mod">
          <ac:chgData name="Pacheria, Chirag" userId="3a86c768-f984-433c-88b1-d8691fafd6d4" providerId="ADAL" clId="{D6E79EC7-75A6-4EDF-BCFD-06C21EA3524E}" dt="2026-03-18T14:31:41.877" v="349"/>
          <ac:spMkLst>
            <pc:docMk/>
            <pc:sldMk cId="0" sldId="270"/>
            <ac:spMk id="39" creationId="{00000000-0000-0000-0000-000000000000}"/>
          </ac:spMkLst>
        </pc:spChg>
      </pc:sldChg>
      <pc:sldChg chg="addSp delSp modSp mod">
        <pc:chgData name="Pacheria, Chirag" userId="3a86c768-f984-433c-88b1-d8691fafd6d4" providerId="ADAL" clId="{D6E79EC7-75A6-4EDF-BCFD-06C21EA3524E}" dt="2026-03-18T15:01:33.728" v="365" actId="20577"/>
        <pc:sldMkLst>
          <pc:docMk/>
          <pc:sldMk cId="0" sldId="272"/>
        </pc:sldMkLst>
        <pc:spChg chg="mod">
          <ac:chgData name="Pacheria, Chirag" userId="3a86c768-f984-433c-88b1-d8691fafd6d4" providerId="ADAL" clId="{D6E79EC7-75A6-4EDF-BCFD-06C21EA3524E}" dt="2026-03-18T14:27:30.482" v="137" actId="20577"/>
          <ac:spMkLst>
            <pc:docMk/>
            <pc:sldMk cId="0" sldId="272"/>
            <ac:spMk id="10" creationId="{00000000-0000-0000-0000-000000000000}"/>
          </ac:spMkLst>
        </pc:spChg>
        <pc:spChg chg="del">
          <ac:chgData name="Pacheria, Chirag" userId="3a86c768-f984-433c-88b1-d8691fafd6d4" providerId="ADAL" clId="{D6E79EC7-75A6-4EDF-BCFD-06C21EA3524E}" dt="2026-03-18T14:27:19.291" v="110" actId="21"/>
          <ac:spMkLst>
            <pc:docMk/>
            <pc:sldMk cId="0" sldId="272"/>
            <ac:spMk id="11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8:40.720" v="147" actId="1410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5:24.978" v="83" actId="20577"/>
          <ac:spMkLst>
            <pc:docMk/>
            <pc:sldMk cId="0" sldId="272"/>
            <ac:spMk id="13" creationId="{00000000-0000-0000-0000-000000000000}"/>
          </ac:spMkLst>
        </pc:spChg>
        <pc:spChg chg="del">
          <ac:chgData name="Pacheria, Chirag" userId="3a86c768-f984-433c-88b1-d8691fafd6d4" providerId="ADAL" clId="{D6E79EC7-75A6-4EDF-BCFD-06C21EA3524E}" dt="2026-03-18T14:25:00.152" v="54" actId="478"/>
          <ac:spMkLst>
            <pc:docMk/>
            <pc:sldMk cId="0" sldId="272"/>
            <ac:spMk id="14" creationId="{00000000-0000-0000-0000-000000000000}"/>
          </ac:spMkLst>
        </pc:spChg>
        <pc:spChg chg="del mod">
          <ac:chgData name="Pacheria, Chirag" userId="3a86c768-f984-433c-88b1-d8691fafd6d4" providerId="ADAL" clId="{D6E79EC7-75A6-4EDF-BCFD-06C21EA3524E}" dt="2026-03-18T14:25:09.304" v="67" actId="21"/>
          <ac:spMkLst>
            <pc:docMk/>
            <pc:sldMk cId="0" sldId="272"/>
            <ac:spMk id="15" creationId="{00000000-0000-0000-0000-000000000000}"/>
          </ac:spMkLst>
        </pc:spChg>
        <pc:spChg chg="del mod">
          <ac:chgData name="Pacheria, Chirag" userId="3a86c768-f984-433c-88b1-d8691fafd6d4" providerId="ADAL" clId="{D6E79EC7-75A6-4EDF-BCFD-06C21EA3524E}" dt="2026-03-18T14:28:17.523" v="144" actId="21"/>
          <ac:spMkLst>
            <pc:docMk/>
            <pc:sldMk cId="0" sldId="272"/>
            <ac:spMk id="16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4:28:34.496" v="146" actId="14100"/>
          <ac:spMkLst>
            <pc:docMk/>
            <pc:sldMk cId="0" sldId="272"/>
            <ac:spMk id="17" creationId="{00000000-0000-0000-0000-000000000000}"/>
          </ac:spMkLst>
        </pc:spChg>
        <pc:spChg chg="mod">
          <ac:chgData name="Pacheria, Chirag" userId="3a86c768-f984-433c-88b1-d8691fafd6d4" providerId="ADAL" clId="{D6E79EC7-75A6-4EDF-BCFD-06C21EA3524E}" dt="2026-03-18T15:01:33.728" v="365" actId="20577"/>
          <ac:spMkLst>
            <pc:docMk/>
            <pc:sldMk cId="0" sldId="272"/>
            <ac:spMk id="19" creationId="{00000000-0000-0000-0000-000000000000}"/>
          </ac:spMkLst>
        </pc:spChg>
        <pc:spChg chg="add del mod">
          <ac:chgData name="Pacheria, Chirag" userId="3a86c768-f984-433c-88b1-d8691fafd6d4" providerId="ADAL" clId="{D6E79EC7-75A6-4EDF-BCFD-06C21EA3524E}" dt="2026-03-18T14:25:44.592" v="86" actId="21"/>
          <ac:spMkLst>
            <pc:docMk/>
            <pc:sldMk cId="0" sldId="272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47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4572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502920"/>
            <a:ext cx="1371600" cy="1371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194560"/>
            <a:ext cx="1005840" cy="10058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520440"/>
            <a:ext cx="822960" cy="82296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57200" y="640080"/>
            <a:ext cx="2103120" cy="32918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457200" y="640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57200" y="1097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457200" y="2212848"/>
            <a:ext cx="34747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457200" y="235915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Insights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457200" y="3200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data-driven SQL requests to power faster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smarter business decisions at AtliQ Hardwares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3200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960120"/>
            <a:ext cx="1572768" cy="1417320"/>
          </a:xfrm>
          <a:prstGeom prst="rect">
            <a:avLst/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03327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" y="1490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228600" y="1947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965960" y="960120"/>
            <a:ext cx="1572768" cy="1417320"/>
          </a:xfrm>
          <a:prstGeom prst="rect">
            <a:avLst/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103327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65960" y="1490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1965960" y="1947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703320" y="960120"/>
            <a:ext cx="1572768" cy="1417320"/>
          </a:xfrm>
          <a:prstGeom prst="rect">
            <a:avLst/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03327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03320" y="1490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7" name="Text 11"/>
          <p:cNvSpPr/>
          <p:nvPr/>
        </p:nvSpPr>
        <p:spPr>
          <a:xfrm>
            <a:off x="3703320" y="1947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40680" y="960120"/>
            <a:ext cx="1572768" cy="1417320"/>
          </a:xfrm>
          <a:prstGeom prst="rect">
            <a:avLst/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103327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1490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4"/>
          <p:cNvSpPr/>
          <p:nvPr/>
        </p:nvSpPr>
        <p:spPr>
          <a:xfrm>
            <a:off x="5440680" y="1947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178040" y="960120"/>
            <a:ext cx="1572768" cy="1417320"/>
          </a:xfrm>
          <a:prstGeom prst="rect">
            <a:avLst/>
          </a:prstGeom>
          <a:solidFill>
            <a:srgbClr val="1C2333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1033272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78040" y="1490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17"/>
          <p:cNvSpPr/>
          <p:nvPr/>
        </p:nvSpPr>
        <p:spPr>
          <a:xfrm>
            <a:off x="7178040" y="1947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228600" y="2578608"/>
            <a:ext cx="8686800" cy="566928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228600" y="2578608"/>
            <a:ext cx="54864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688336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22960" y="26883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across APAC, EU, North America (NA), and Latin America (LATAM)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228600" y="3264408"/>
            <a:ext cx="8686800" cy="566928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228600" y="3264408"/>
            <a:ext cx="54864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374136"/>
            <a:ext cx="347472" cy="3474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22960" y="33741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Peripherals · Accessories · Notebooks · Desktops · Storage · Networking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228600" y="3950208"/>
            <a:ext cx="8686800" cy="566928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228600" y="3950208"/>
            <a:ext cx="54864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059936"/>
            <a:ext cx="347472" cy="34747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22960" y="40599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Direct · Distributor · Retailer  (brick-and-mortar + e-commerce)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8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9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92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7315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182880" y="31272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REQUESTS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49040" y="2926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749040" y="914400"/>
            <a:ext cx="27432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749040" y="10515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address management's need for better insights by developing 10 ad-hoc SQL requests that support quick and smart data-informed decision-making.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749040" y="2560320"/>
            <a:ext cx="5074920" cy="594360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49040" y="2560320"/>
            <a:ext cx="54864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13632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13632" y="28803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 with ready data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49040" y="3273552"/>
            <a:ext cx="5074920" cy="594360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49040" y="3273552"/>
            <a:ext cx="54864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913632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13632" y="35935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structured ad-hoc answers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49040" y="3986784"/>
            <a:ext cx="5074920" cy="594360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749040" y="3986784"/>
            <a:ext cx="54864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913632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13632" y="43068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revenue &amp; efficiency gains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320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234440"/>
            <a:ext cx="4023360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6400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89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product info &amp; segments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075688"/>
            <a:ext cx="4023360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2075688"/>
            <a:ext cx="6400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130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details, market, region &amp; channel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1234440"/>
            <a:ext cx="4206240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63440" y="1234440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4632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fact_gross_price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price for each product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2075688"/>
            <a:ext cx="4206240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207568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fact_manufacturing_cost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2441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per product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2916936"/>
            <a:ext cx="4206240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63440" y="2916936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4632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fact_pre_invoice_deductions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46320" y="3282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Pre-invoice deduction details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3758184"/>
            <a:ext cx="4206240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63440" y="3758184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4632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fact_sales_monthly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46320" y="4123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— FY2020 &amp; FY2021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1C2333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74320" y="4572000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7200" y="45811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Year: Sep 1 – Aug 31  ·  Data covers FY 2020 and FY 2021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91440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61B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INSIGHTS</a:t>
            </a:r>
            <a:endParaRPr lang="en-US" sz="1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0" y="1874520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2057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dive into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26334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Ad-Hoc Requests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4400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delivering critical business insights from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Exclusive markets in the APAC region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4754880" cy="2130552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475488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45537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DISTINCT(Market) AS 'Atliq Exclusive Market'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dim_customer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 = 'Atliq Exclusive'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REGION = 'APAC';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715000" y="713232"/>
            <a:ext cx="324612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0" y="7498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Markets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051560"/>
            <a:ext cx="3017520" cy="1828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3063240"/>
            <a:ext cx="8229600" cy="1481328"/>
          </a:xfrm>
          <a:prstGeom prst="rect">
            <a:avLst/>
          </a:prstGeom>
          <a:solidFill>
            <a:srgbClr val="161B22"/>
          </a:solidFill>
          <a:ln w="889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2960" y="3063240"/>
            <a:ext cx="64008" cy="14813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87552" y="315468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87552" y="3364992"/>
            <a:ext cx="79735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Exclusive operates in 8 countries across the APAC region: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Indonesia · Japan · Philippines · South Korea · Australia · New Zealand · Bangladesh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unique product increase in 2021 vs. 2020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5029200" cy="192024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502920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4924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4828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CASE WHEN fiscal_year=2020 THEN product_code END) AS Unique_2020,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CASE WHEN fiscal_year=2021 THEN product_code END) AS Unique_2021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fact_sales_monthly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Unique_2020, Unique_2021,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ROUND((Unique_2021-Unique_2020)*100/Unique_2020,2) AS Percent_change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89320" y="713232"/>
            <a:ext cx="297180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749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0760" y="1033272"/>
            <a:ext cx="2788920" cy="1508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834640"/>
            <a:ext cx="2468880" cy="73152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2889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229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2020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566160" y="2834640"/>
            <a:ext cx="2468880" cy="73152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66160" y="2889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35661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2021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9360" y="2834640"/>
            <a:ext cx="2468880" cy="73152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09360" y="28895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3093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2960" y="3703320"/>
            <a:ext cx="8229600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22960" y="3703320"/>
            <a:ext cx="64008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87552" y="379476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87552" y="4005072"/>
            <a:ext cx="7973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36% increase in unique products was recorded from 2020 (245 products) to 2021 (334 products).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 counts for each segment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3657600" cy="137160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365760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7764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3456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Segment,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product_code) AS Product_count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dim_product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Segment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Product_count DESC;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617720" y="713232"/>
            <a:ext cx="4343400" cy="2331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7498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Product Count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033272"/>
            <a:ext cx="4160520" cy="19202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212848"/>
            <a:ext cx="3657600" cy="2331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Count by Segment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2532888"/>
            <a:ext cx="3474720" cy="19202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617720" y="3154680"/>
            <a:ext cx="4343400" cy="1389888"/>
          </a:xfrm>
          <a:prstGeom prst="rect">
            <a:avLst/>
          </a:prstGeom>
          <a:solidFill>
            <a:srgbClr val="161B22"/>
          </a:solidFill>
          <a:ln w="889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17720" y="3154680"/>
            <a:ext cx="64008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782312" y="3246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82312" y="3456432"/>
            <a:ext cx="40873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(129), Accessories (116), and Peripherals (84) feature the most extensive product ranges at AtliQ Hardwares.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with the most increase in unique products (2021 vs. 2020)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4114800" cy="192024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411480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3913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y.segment,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CASE WHEN x.fiscal_year=2020 THEN x.product_code END) AS count_2020,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CASE WHEN x.fiscal_year=2021 THEN x.product_code END) AS count_2021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fact_sales_monthly x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dim_product y USING(product_code)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y.segment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 count_2021 - count_2020 AS Difference FROM CTE;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074920" y="713232"/>
            <a:ext cx="388620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7498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2020 vs 2021 by Segment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1033272"/>
            <a:ext cx="3703320" cy="1508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788920"/>
            <a:ext cx="4114800" cy="19385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2825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Difference Table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3108960"/>
            <a:ext cx="3931920" cy="154533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074920" y="2788920"/>
            <a:ext cx="3886200" cy="1938528"/>
          </a:xfrm>
          <a:prstGeom prst="rect">
            <a:avLst/>
          </a:prstGeom>
          <a:solidFill>
            <a:srgbClr val="161B22"/>
          </a:solidFill>
          <a:ln w="889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074920" y="2788920"/>
            <a:ext cx="64008" cy="19385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239512" y="2880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239512" y="3090672"/>
            <a:ext cx="363016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34 new products added, the Accessories segment leads all divisions in product introductions from 2020 to 2021.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highest and lowest manufacturing costs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4572000" cy="201168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457200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4370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product_code, AVG(manufacturing_cost) AS cost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FROM fact_manufacturing_cost GROUP BY product_code ORDER BY cost DESC LIMIT 1)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product_code, AVG(manufacturing_cost) AS cost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FROM fact_manufacturing_cost GROUP BY product_code ORDER BY cost ASC LIMIT 1)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x.product_code, CONCAT('$ ',ROUND(cost,2)) AS Cost, y.product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 x JOIN dim_product y USING(product_code) ORDER BY cost DESC;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532120" y="713232"/>
            <a:ext cx="3429000" cy="2011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7498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 Result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3560" y="1033272"/>
            <a:ext cx="3246120" cy="16002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880360"/>
            <a:ext cx="3931920" cy="1005840"/>
          </a:xfrm>
          <a:prstGeom prst="rect">
            <a:avLst/>
          </a:prstGeom>
          <a:solidFill>
            <a:srgbClr val="161B22"/>
          </a:solidFill>
          <a:ln w="889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2960" y="288036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78408" y="2935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78408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$241.00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7840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HOME Allin 1 Gen 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83480" y="2880360"/>
            <a:ext cx="3931920" cy="1005840"/>
          </a:xfrm>
          <a:prstGeom prst="rect">
            <a:avLst/>
          </a:prstGeom>
          <a:solidFill>
            <a:srgbClr val="161B22"/>
          </a:solidFill>
          <a:ln w="889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983480" y="2880360"/>
            <a:ext cx="64008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138928" y="2935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138928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$0.91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13892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Master wired x1 Ms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22960" y="4005072"/>
            <a:ext cx="8229600" cy="795528"/>
          </a:xfrm>
          <a:prstGeom prst="rect">
            <a:avLst/>
          </a:prstGeom>
          <a:solidFill>
            <a:srgbClr val="161B22"/>
          </a:solidFill>
          <a:ln w="889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22960" y="4005072"/>
            <a:ext cx="64008" cy="7955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87552" y="4096512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87552" y="4306824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 HOME Allin 1 Gen 2 is the most expensive at $241. AQ Master wired x1 Ms is most cost-efficient at $0.91. Prioritizing efficiency in high-cost products will strengthen competitive position.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 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with highest avg pre-invoice discount — India, FY2021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4389120" cy="192024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438912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4187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customer_code, AVG(pre_invoice_discount_pct) AS Avg_discount_pct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fact_pre_invoice_deductions WHERE fiscal_year=2021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customer_code ORDER BY Avg_discount_pct DESC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x.customer_code, y.customer,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CONCAT(ROUND(x.Avg_discount_pct*100,2),' %') AS Avg_Discount_Pct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 x JOIN dim_customer y USING(customer_code)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market='India'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x.Avg_discount_pct DESC LIMIT 5;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349240" y="713232"/>
            <a:ext cx="365760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749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Pre-Invoice Discount %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0680" y="1033272"/>
            <a:ext cx="3474720" cy="1508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788920"/>
            <a:ext cx="4389120" cy="17556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28254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— India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3108960"/>
            <a:ext cx="4206240" cy="1371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349240" y="2788920"/>
            <a:ext cx="3657600" cy="1755648"/>
          </a:xfrm>
          <a:prstGeom prst="rect">
            <a:avLst/>
          </a:prstGeom>
          <a:solidFill>
            <a:srgbClr val="161B22"/>
          </a:solidFill>
          <a:ln w="889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349240" y="2788920"/>
            <a:ext cx="64008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513832" y="28803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513832" y="3090672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(30.83%), Viveks (30.38%), Ezone (30.28%), Croma (30.25%), and Amazon (29.33%) receive the highest pre-invoice discounts — averaging nearly 30% off gross price.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amount for 'Atliq Exclusive' by month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4846320" cy="182880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484632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636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4645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YEAR(date) AS Year, MONTHNAME(date) AS Month,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ROUND(SUM(sold_quantity*gross_price)/1000000,2) AS Gross_sales_Millions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fact_sales_monthly F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fact_gross_price G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F.product_code=G.product_code AND F.fiscal_year=G.fiscal_year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dim_customer D USING(customer_code)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customer='Atliq Exclusive'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Year, Month ORDER BY Year;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806440" y="713232"/>
            <a:ext cx="315468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749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Gross Sales (M)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97880" y="1033272"/>
            <a:ext cx="2971800" cy="37033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670048"/>
            <a:ext cx="4846320" cy="215798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2706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Gross Sales — Atliq Exclusive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2990088"/>
            <a:ext cx="4663440" cy="17647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Insight — Atliq Exclusive Monthly Trend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77240"/>
            <a:ext cx="822960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813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Gross Sales in Millions — FY2019 to FY2021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097280"/>
            <a:ext cx="8046720" cy="26289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" y="3986784"/>
            <a:ext cx="8229600" cy="832104"/>
          </a:xfrm>
          <a:prstGeom prst="rect">
            <a:avLst/>
          </a:prstGeom>
          <a:solidFill>
            <a:srgbClr val="161B22"/>
          </a:solidFill>
          <a:ln w="889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41248" y="3986784"/>
            <a:ext cx="45719" cy="8321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78407" y="403479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05839" y="4289028"/>
            <a:ext cx="79735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lowest sales in FY2020 Q3 (Mar–May 2020), Atliq Exclusive saw a substantial surge in gross sales in FY2021 Q1, peaking at 20.5M in November 2020.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quarter of FY2020 had the maximum total sold quantity?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4114800" cy="210312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411480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3913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MONTH(DATE_ADD(date,INTERVAL 4 MONTH)) IN (1,2,3) THEN 'Q1'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MONTH(DATE_ADD(date,INTERVAL 4 MONTH)) IN (4,5,6) THEN 'Q2'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MONTH(DATE_ADD(date,INTERVAL 4 MONTH)) IN (7,8,9) THEN 'Q3'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'Q4'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Fiscal_quarter,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ROUND(SUM(sold_quantity)/1000000,2) AS Total_sold_qty_millions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fact_sales_monthly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fiscal_year=2020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Fiscal_quarter ORDER BY Total_sold_qty_millions DESC;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074920" y="713232"/>
            <a:ext cx="3886200" cy="2103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7498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Quarterly Sold Quantity (M)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1033272"/>
            <a:ext cx="3703320" cy="17099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999232"/>
            <a:ext cx="1874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3044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3319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7.01M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880360" y="2999232"/>
            <a:ext cx="1874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880360" y="3044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880360" y="3319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6.65M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937760" y="2999232"/>
            <a:ext cx="1874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937760" y="3044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937760" y="3319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5.04M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995160" y="2999232"/>
            <a:ext cx="1874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995160" y="3044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995160" y="3319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2.08M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22960" y="3977640"/>
            <a:ext cx="8229600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" y="3977640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87552" y="406908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987552" y="4279392"/>
            <a:ext cx="7973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started strong with Q1 leading at 7.01M units sold. Q2 saw a slight decline to 6.65M, Q4 dropped to 5.04M, and Q3 recorded the lowest at just 2.08M units — a steep decline likely due to COVID-19 impact.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 drove the most gross sales in FY2021?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4663440" cy="214884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466344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44622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customer_code, SUM(sold_quantity*gross_price) AS Gross_sales, F.fiscal_year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fact_sales_monthly F JOIN fact_gross_price G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F.product_code=G.product_code AND F.fiscal_year=G.fiscal_year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customer_code, F.fiscal_year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CTE_Channel AS (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D.channel, CONCAT(ROUND(SUM(C.Gross_sales)/1000000,2),' M') AS Gross_sales_M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CTE C JOIN dim_customer D USING(customer_code)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C.fiscal_year=2021 GROUP BY D.channel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 CONCAT(ROUND(Gross_sales_M*100/(SELECT SUM(Gross_sales_M) FROM CTE_Channel),2),' %') AS Percentage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CTE_Channel ORDER BY Percentage DESC;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623560" y="713232"/>
            <a:ext cx="3337560" cy="2148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23560" y="749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Revenue Share FY2021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033272"/>
            <a:ext cx="3154680" cy="17556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3017520"/>
            <a:ext cx="2560320" cy="914400"/>
          </a:xfrm>
          <a:prstGeom prst="rect">
            <a:avLst/>
          </a:prstGeom>
          <a:solidFill>
            <a:srgbClr val="161B22"/>
          </a:solidFill>
          <a:ln w="762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2960" y="3017520"/>
            <a:ext cx="54864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60120" y="3072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$1,219.08M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73.23%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593592" y="3017520"/>
            <a:ext cx="2560320" cy="914400"/>
          </a:xfrm>
          <a:prstGeom prst="rect">
            <a:avLst/>
          </a:prstGeom>
          <a:solidFill>
            <a:srgbClr val="161B22"/>
          </a:solidFill>
          <a:ln w="762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593592" y="301752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730752" y="3072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30752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$257.53M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730752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15.47%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64224" y="3017520"/>
            <a:ext cx="2560320" cy="914400"/>
          </a:xfrm>
          <a:prstGeom prst="rect">
            <a:avLst/>
          </a:prstGeom>
          <a:solidFill>
            <a:srgbClr val="161B22"/>
          </a:solidFill>
          <a:ln w="762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364224" y="3017520"/>
            <a:ext cx="54864" cy="9144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501384" y="3072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501384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$188.03M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01384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4069080"/>
            <a:ext cx="8229600" cy="749808"/>
          </a:xfrm>
          <a:prstGeom prst="rect">
            <a:avLst/>
          </a:prstGeom>
          <a:solidFill>
            <a:srgbClr val="161B22"/>
          </a:solidFill>
          <a:ln w="889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22960" y="4069080"/>
            <a:ext cx="64008" cy="7498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87552" y="41605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987552" y="4370832"/>
            <a:ext cx="7973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 channel was the primary revenue driver in FY2021, contributing 73.23% of total gross sales — generating $1,219.08M. Direct followed at $257.53M (15.47%) and Distributor at $188.03M (11.3%).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Hardwares  ·  Consumer Goods Division  · Designed by – Chirag Pacheria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4873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" y="0"/>
            <a:ext cx="36576" cy="48737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division by total sold quantity — FY2021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667512"/>
            <a:ext cx="82296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713232"/>
            <a:ext cx="5029200" cy="1828800"/>
          </a:xfrm>
          <a:prstGeom prst="rect">
            <a:avLst/>
          </a:prstGeom>
          <a:solidFill>
            <a:srgbClr val="0A0E14"/>
          </a:solidFill>
          <a:ln w="63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713232"/>
            <a:ext cx="5029200" cy="1920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544" y="763524"/>
            <a:ext cx="86868" cy="868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763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9304" y="763524"/>
            <a:ext cx="86868" cy="868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49240" y="7498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41832" y="923544"/>
            <a:ext cx="4828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c.division, f.product_code, c.product,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SUM(sold_quantity) AS Total_sold_qty,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DENSE_RANK() OVER (PARTITION BY division ORDER BY SUM(sold_quantity) DESC) AS Rank_Order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fact_sales_monthly f JOIN dim_product c USING(product_code)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f.fiscal_year=2021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c.division, f.product_code, c.product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CTE WHERE Rank_Order &lt;= 3;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89320" y="713232"/>
            <a:ext cx="297180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749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Total Sold Qty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0760" y="1033272"/>
            <a:ext cx="2788920" cy="143560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2697480"/>
            <a:ext cx="5029200" cy="2103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2734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Division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3017520"/>
            <a:ext cx="4846320" cy="17099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89320" y="2697480"/>
            <a:ext cx="2971800" cy="2103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989320" y="27340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Bar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80760" y="3017520"/>
            <a:ext cx="2788920" cy="170992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0" y="4873752"/>
            <a:ext cx="91440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N&amp;S = Network &amp; Storage  ·  P&amp;A = Peripherals &amp; Accessories  ·  PC = Notebook &amp; Desktop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4572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"/>
            <a:ext cx="1371600" cy="1371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286000"/>
            <a:ext cx="1097280" cy="10972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657600"/>
            <a:ext cx="822960" cy="8229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57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7200" dirty="0"/>
          </a:p>
        </p:txBody>
      </p:sp>
      <p:sp>
        <p:nvSpPr>
          <p:cNvPr id="8" name="Text 3"/>
          <p:cNvSpPr/>
          <p:nvPr/>
        </p:nvSpPr>
        <p:spPr>
          <a:xfrm>
            <a:off x="457200" y="141732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endParaRPr lang="en-US" sz="7200" dirty="0"/>
          </a:p>
        </p:txBody>
      </p:sp>
      <p:sp>
        <p:nvSpPr>
          <p:cNvPr id="9" name="Shape 4"/>
          <p:cNvSpPr/>
          <p:nvPr/>
        </p:nvSpPr>
        <p:spPr>
          <a:xfrm>
            <a:off x="457200" y="2578608"/>
            <a:ext cx="3657600" cy="457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5720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57200" y="3228031"/>
            <a:ext cx="5166360" cy="484235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57200" y="3657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56590" y="3300984"/>
            <a:ext cx="5001371" cy="48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conclude, this project helped to analyze product growth, customer discounts, sales trends and sales channels.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65760" y="48874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AtliQ Hardwares  ·  Consumer Goods Division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2012</Words>
  <Application>Microsoft Office PowerPoint</Application>
  <PresentationFormat>On-screen Show (16:9)</PresentationFormat>
  <Paragraphs>280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Goods Ad-Hoc Insights</dc:title>
  <dc:subject>PptxGenJS Presentation</dc:subject>
  <dc:creator>PptxGenJS</dc:creator>
  <cp:lastModifiedBy>Pacheria, Chirag</cp:lastModifiedBy>
  <cp:revision>1</cp:revision>
  <dcterms:created xsi:type="dcterms:W3CDTF">2026-03-18T08:46:23Z</dcterms:created>
  <dcterms:modified xsi:type="dcterms:W3CDTF">2026-03-18T15:01:40Z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2026-03-18T14:17:42Z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c784f82c-51c2-44ac-ac52-6604438b73b1</vt:lpwstr>
  </property>
  <property fmtid="{D5CDD505-2E9C-101B-9397-08002B2CF9AE}" pid="8" name="MSIP_Label_38f1469a-2c2a-4aee-b92b-090d4c5468ff_ContentBits">
    <vt:lpwstr>0</vt:lpwstr>
  </property>
  <property fmtid="{D5CDD505-2E9C-101B-9397-08002B2CF9AE}" pid="9" name="MSIP_Label_38f1469a-2c2a-4aee-b92b-090d4c5468ff_Tag">
    <vt:lpwstr>10, 3, 0, 1</vt:lpwstr>
  </property>
</Properties>
</file>